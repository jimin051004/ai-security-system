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인공지능 기반의 취약점 점검 시스템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졸업작품 보고 — docs/PROJECT_REPORT_PPT_SOURCE.md 기반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프로젝트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Apple SD Gothic Neo"/>
              </a:defRPr>
            </a:pPr>
            <a:r>
              <a:t>리버스 프록시형 WAF: 클라이언트 ↔ 실제 웹앱(업스트림) 사이</a:t>
            </a:r>
          </a:p>
          <a:p>
            <a:pPr>
              <a:defRPr sz="1400">
                <a:latin typeface="Apple SD Gothic Neo"/>
              </a:defRPr>
            </a:pPr>
            <a:r>
              <a:t>모든 HTTP 요청을 OWASP Top 10 : 2025 기준으로 점검·차단·기록</a:t>
            </a:r>
          </a:p>
          <a:p>
            <a:pPr>
              <a:defRPr sz="1400">
                <a:latin typeface="Apple SD Gothic Neo"/>
              </a:defRPr>
            </a:pPr>
            <a:r>
              <a:t>검증 타깃: OWASP Juice Shop (Docker, 호스트 포트 3001)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프로젝트 목적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Apple SD Gothic Neo"/>
              </a:defRPr>
            </a:pPr>
            <a:r>
              <a:t>교육·연구: 요청 단위 보안 점검 파이프라인 직접 구현</a:t>
            </a:r>
          </a:p>
          <a:p>
            <a:pPr>
              <a:defRPr sz="1400">
                <a:latin typeface="Apple SD Gothic Neo"/>
              </a:defRPr>
            </a:pPr>
            <a:r>
              <a:t>재현 가능한 검증: Juice Shop 앞 탐지·차단·로그</a:t>
            </a:r>
          </a:p>
          <a:p>
            <a:pPr>
              <a:defRPr sz="1400">
                <a:latin typeface="Apple SD Gothic Neo"/>
              </a:defRPr>
            </a:pPr>
            <a:r>
              <a:t>확장성: a01~a10 모듈 + 환경 변수 정책</a:t>
            </a:r>
          </a:p>
          <a:p>
            <a:pPr>
              <a:defRPr sz="1400">
                <a:latin typeface="Apple SD Gothic Neo"/>
              </a:defRPr>
            </a:pPr>
            <a:r>
              <a:t>운영 가시성: SQLite + 웹 대시보드</a:t>
            </a:r>
          </a:p>
          <a:p>
            <a:pPr>
              <a:defRPr sz="1400">
                <a:latin typeface="Apple SD Gothic Neo"/>
              </a:defRPr>
            </a:pPr>
            <a:r>
              <a:t>AI 연계 준비: 규칙 1차 → 로컬 LLM 요약·보조(후반)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기술 스택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>
                <a:latin typeface="Apple SD Gothic Neo"/>
              </a:defRPr>
            </a:pPr>
            <a:r>
              <a:t>Python, FastAPI, Uvicorn, httpx, Jinja2</a:t>
            </a:r>
          </a:p>
          <a:p>
            <a:pPr>
              <a:defRPr sz="1300">
                <a:latin typeface="Apple SD Gothic Neo"/>
              </a:defRPr>
            </a:pPr>
            <a:r>
              <a:t>SQLite (waf_traffic.sqlite3), Docker + docker-compose.yml</a:t>
            </a:r>
          </a:p>
          <a:p>
            <a:pPr>
              <a:defRPr sz="1300">
                <a:latin typeface="Apple SD Gothic Neo"/>
              </a:defRPr>
            </a:pPr>
            <a:r>
              <a:t>설정: UPSTREAM_URL, WAF_*, TRAFFIC_LOG_DB 등</a:t>
            </a:r>
          </a:p>
          <a:p>
            <a:pPr>
              <a:defRPr sz="1300">
                <a:latin typeface="Apple SD Gothic Neo"/>
              </a:defRPr>
            </a:pPr>
            <a:r>
              <a:t>pytest — verification/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동작 방식 — 역할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Apple SD Gothic Neo"/>
              </a:defRPr>
            </a:pPr>
            <a:r>
              <a:t>클라이언트는 프록시(예: :8080)만 인지</a:t>
            </a:r>
          </a:p>
          <a:p>
            <a:pPr>
              <a:defRPr sz="1400">
                <a:latin typeface="Apple SD Gothic Neo"/>
              </a:defRPr>
            </a:pPr>
            <a:r>
              <a:t>내부적으로 UPSTREAM_URL(예: Juice Shop :3001)로 포워딩</a:t>
            </a:r>
          </a:p>
          <a:p>
            <a:pPr>
              <a:defRPr sz="1400">
                <a:latin typeface="Apple SD Gothic Neo"/>
              </a:defRPr>
            </a:pPr>
            <a:r>
              <a:t>WAF ON 시 전달 전 스캔 → 403 차단 또는 통과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동작 방식 — 흐름 (1~5)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>
                <a:latin typeface="Apple SD Gothic Neo"/>
              </a:defRPr>
            </a:pPr>
            <a:r>
              <a:t>request_to_context: 메서드·경로·쿼리·헤더·body_preview</a:t>
            </a:r>
          </a:p>
          <a:p>
            <a:pPr>
              <a:defRPr sz="1300">
                <a:latin typeface="Apple SD Gothic Neo"/>
              </a:defRPr>
            </a:pPr>
            <a:r>
              <a:t>detector.scan_request: A01~A10 순차 scan(ctx)</a:t>
            </a:r>
          </a:p>
          <a:p>
            <a:pPr>
              <a:defRPr sz="1300">
                <a:latin typeface="Apple SD Gothic Neo"/>
              </a:defRPr>
            </a:pPr>
            <a:r>
              <a:t>Finding 집계: 규칙 ID, 심각도, evidence, location</a:t>
            </a:r>
          </a:p>
          <a:p>
            <a:pPr>
              <a:defRPr sz="1300">
                <a:latin typeface="Apple SD Gothic Neo"/>
              </a:defRPr>
            </a:pPr>
            <a:r>
              <a:t>waf_blocking_findings: WAF_BLOCK_MIN_SEVERITY + A05-는 별도 정책</a:t>
            </a:r>
          </a:p>
          <a:p>
            <a:pPr>
              <a:defRPr sz="1300">
                <a:latin typeface="Apple SD Gothic Neo"/>
              </a:defRPr>
            </a:pPr>
            <a:r>
              <a:t>차단: HTML 또는 JSON 403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동작 방식 — 흐름 (6~9)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Apple SD Gothic Neo"/>
              </a:defRPr>
            </a:pPr>
            <a:r>
              <a:t>통과: httpx 업스트림 요청, 응답 rewrite (LAN 절대 URL 치환)</a:t>
            </a:r>
          </a:p>
          <a:p>
            <a:pPr>
              <a:defRPr sz="1400">
                <a:latin typeface="Apple SD Gothic Neo"/>
              </a:defRPr>
            </a:pPr>
            <a:r>
              <a:t>traffic_log: SQLite 적재</a:t>
            </a:r>
          </a:p>
          <a:p>
            <a:pPr>
              <a:defRPr sz="1400">
                <a:latin typeface="Apple SD Gothic Neo"/>
              </a:defRPr>
            </a:pPr>
            <a:r>
              <a:t>/__waf/dashboard: 프록시 전용 운영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구조도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Apple SD Gothic Neo"/>
              </a:defRPr>
            </a:pPr>
            <a:r>
              <a:t>클라이언트 → FastAPI :8080</a:t>
            </a:r>
          </a:p>
          <a:p>
            <a:pPr>
              <a:defRPr sz="1400">
                <a:latin typeface="Apple SD Gothic Neo"/>
              </a:defRPr>
            </a:pPr>
            <a:r>
              <a:t>→ WAF 스캔(detector + owasp/a01~a10)</a:t>
            </a:r>
          </a:p>
          <a:p>
            <a:pPr>
              <a:defRPr sz="1400">
                <a:latin typeface="Apple SD Gothic Neo"/>
              </a:defRPr>
            </a:pPr>
            <a:r>
              <a:t>→ 차단? 403+로그 / 통과? httpx → Juice Shop</a:t>
            </a:r>
          </a:p>
          <a:p>
            <a:pPr>
              <a:defRPr sz="1400">
                <a:latin typeface="Apple SD Gothic Neo"/>
              </a:defRPr>
            </a:pPr>
            <a:r>
              <a:t>→ SQLite, /__waf/* 대시보드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전통적 탐지(현재 1차)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Apple SD Gothic Neo"/>
              </a:defRPr>
            </a:pPr>
            <a:r>
              <a:t>시그니처·규칙 기반: 빠른 매칭, 패턴 품질에 의존</a:t>
            </a:r>
          </a:p>
          <a:p>
            <a:pPr>
              <a:defRPr sz="1400">
                <a:latin typeface="Apple SD Gothic Neo"/>
              </a:defRPr>
            </a:pPr>
            <a:r>
              <a:t>설명 가능: 규칙 ID·위치·증거</a:t>
            </a:r>
          </a:p>
          <a:p>
            <a:pPr>
              <a:defRPr sz="1400">
                <a:latin typeface="Apple SD Gothic Neo"/>
              </a:defRPr>
            </a:pPr>
            <a:r>
              <a:t>지연·비용: 로컬 연산, 실시간 프록시에 적합</a:t>
            </a:r>
          </a:p>
          <a:p>
            <a:pPr>
              <a:defRPr sz="1400">
                <a:latin typeface="Apple SD Gothic Neo"/>
              </a:defRPr>
            </a:pPr>
            <a:r>
              <a:t>→ A05·A10 등으로 구현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AI(LLM) 보조 이유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>
                <a:latin typeface="Apple SD Gothic Neo"/>
              </a:defRPr>
            </a:pPr>
            <a:r>
              <a:t>미지 변형·난독화: 룰만으로 빠지기 쉬움 → 문맥 보조 판단(비용·환각 주의)</a:t>
            </a:r>
          </a:p>
          <a:p>
            <a:pPr>
              <a:defRPr sz="1300">
                <a:latin typeface="Apple SD Gothic Neo"/>
              </a:defRPr>
            </a:pPr>
            <a:r>
              <a:t>운영: 한국어 요약, 권장 조치</a:t>
            </a:r>
          </a:p>
          <a:p>
            <a:pPr>
              <a:defRPr sz="1300">
                <a:latin typeface="Apple SD Gothic Neo"/>
              </a:defRPr>
            </a:pPr>
            <a:r>
              <a:t>오탐: 선택적 2차 검토</a:t>
            </a:r>
          </a:p>
          <a:p>
            <a:pPr>
              <a:defRPr sz="1300">
                <a:latin typeface="Apple SD Gothic Neo"/>
              </a:defRPr>
            </a:pPr>
            <a:r>
              <a:t>교육: 자연어 설명·리포트 초안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역할 분리 (권장)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Apple SD Gothic Neo"/>
              </a:defRPr>
            </a:pPr>
            <a:r>
              <a:t>차단 최종 결정: 규칙 + 심각도 정책 (감사·예측 가능)</a:t>
            </a:r>
          </a:p>
          <a:p>
            <a:pPr>
              <a:defRPr sz="1400">
                <a:latin typeface="Apple SD Gothic Neo"/>
              </a:defRPr>
            </a:pPr>
            <a:r>
              <a:t>AI: 로그 요약, 애매 구간 보조 스코어, 개발자용 설명</a:t>
            </a:r>
          </a:p>
          <a:p>
            <a:pPr>
              <a:defRPr sz="1400">
                <a:latin typeface="Apple SD Gothic Neo"/>
              </a:defRPr>
            </a:pPr>
            <a:r>
              <a:t>비차단 경로 또는 옵션으로 도입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6.1 공통 — 입력·오케스트레이션·AI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Apple SD Gothic Neo"/>
              </a:defRPr>
            </a:pPr>
            <a:r>
              <a:t>RequestContext: 메서드, 경로, 쿼리, 헤더, body_preview</a:t>
            </a:r>
          </a:p>
          <a:p>
            <a:pPr>
              <a:defRPr sz="1400">
                <a:latin typeface="Apple SD Gothic Neo"/>
              </a:defRPr>
            </a:pPr>
            <a:r>
              <a:t>detector: a01~a10 순 scan → Finding 합산</a:t>
            </a:r>
          </a:p>
          <a:p>
            <a:pPr>
              <a:defRPr sz="1400">
                <a:latin typeface="Apple SD Gothic Neo"/>
              </a:defRPr>
            </a:pPr>
            <a:r>
              <a:t>AI(공통): SQLite 탐지 JSON 기반 요약·힌트·주간 리포트 초안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6.2 모듈별 — A01~A04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>
                <a:latin typeface="Apple SD Gothic Neo"/>
              </a:defRPr>
            </a:pPr>
            <a:r>
              <a:t>A01 접근제어: 미완성 — clean_result / AI: IDOR·스캔 패턴 요약</a:t>
            </a:r>
          </a:p>
          <a:p>
            <a:pPr>
              <a:defRPr sz="1200">
                <a:latin typeface="Apple SD Gothic Neo"/>
              </a:defRPr>
            </a:pPr>
            <a:r>
              <a:t>A02 설정오류: 미완성 / AI: misconfig 설명·RAG</a:t>
            </a:r>
          </a:p>
          <a:p>
            <a:pPr>
              <a:defRPr sz="1200">
                <a:latin typeface="Apple SD Gothic Neo"/>
              </a:defRPr>
            </a:pPr>
            <a:r>
              <a:t>A03 공급망: 미완성(요청만 한계) / AI: 문서 RAG</a:t>
            </a:r>
          </a:p>
          <a:p>
            <a:pPr>
              <a:defRPr sz="1200">
                <a:latin typeface="Apple SD Gothic Neo"/>
              </a:defRPr>
            </a:pPr>
            <a:r>
              <a:t>A04 암호: 미완성 / AI: 위험 설명(마스킹)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6.2 모듈별 — A05·A06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100">
                <a:latin typeface="Apple SD Gothic Neo"/>
              </a:defRPr>
            </a:pPr>
            <a:r>
              <a:t>A05 Injection: 다수 정규식 — 경로·쿼리·body_preview·선별 헤더</a:t>
            </a:r>
          </a:p>
          <a:p>
            <a:pPr>
              <a:defRPr sz="1100">
                <a:latin typeface="Apple SD Gothic Neo"/>
              </a:defRPr>
            </a:pPr>
            <a:r>
              <a:t>SQLi·XSS·CMD·LDAP·XPath·EL·SSTI·CRLF / AI: 난독화 보조·한글 설명</a:t>
            </a:r>
          </a:p>
          <a:p>
            <a:pPr>
              <a:defRPr sz="1100">
                <a:latin typeface="Apple SD Gothic Neo"/>
              </a:defRPr>
            </a:pPr>
            <a:r>
              <a:t>A06 설계: JSON+정규식+쿼리+경로+레이트+디렉터리+엔트로피</a:t>
            </a:r>
          </a:p>
          <a:p>
            <a:pPr>
              <a:defRPr sz="1100">
                <a:latin typeface="Apple SD Gothic Neo"/>
              </a:defRPr>
            </a:pPr>
            <a:r>
              <a:t>AI: 비즈니스 로직 시나리오 요약·플레이북 초안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6.2 모듈별 — A07~A10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100">
                <a:latin typeface="Apple SD Gothic Neo"/>
              </a:defRPr>
            </a:pPr>
            <a:r>
              <a:t>A07 인증: 미완성 / AI: 브루트포스·세션 경고, A06 레이트와 교차 설명</a:t>
            </a:r>
          </a:p>
          <a:p>
            <a:pPr>
              <a:defRPr sz="1100">
                <a:latin typeface="Apple SD Gothic Neo"/>
              </a:defRPr>
            </a:pPr>
            <a:r>
              <a:t>A08 무결성: 미완성 / AI: 무결성 실패 교육 설명</a:t>
            </a:r>
          </a:p>
          <a:p>
            <a:pPr>
              <a:defRPr sz="1100">
                <a:latin typeface="Apple SD Gothic Neo"/>
              </a:defRPr>
            </a:pPr>
            <a:r>
              <a:t>A09 로깅: 미완성(메타) / AI: 가시화 공백 체크리스트</a:t>
            </a:r>
          </a:p>
          <a:p>
            <a:pPr>
              <a:defRPr sz="1100">
                <a:latin typeface="Apple SD Gothic Neo"/>
              </a:defRPr>
            </a:pPr>
            <a:r>
              <a:t>A10 예외조건: 정규식+구조분석+엔트로피 / AI: CWE 스타일 노트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6.3 AI를 요청 경로에 넣을 때 주의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Apple SD Gothic Neo"/>
              </a:defRPr>
            </a:pPr>
            <a:r>
              <a:t>지연·비용·환각 → 차단 후 또는 샘플링만</a:t>
            </a:r>
          </a:p>
          <a:p>
            <a:pPr>
              <a:defRPr sz="1400">
                <a:latin typeface="Apple SD Gothic Neo"/>
              </a:defRPr>
            </a:pPr>
            <a:r>
              <a:t>로컬 LLM + 마스킹 (body_preview·Cookie 외부 전송 자제)</a:t>
            </a:r>
          </a:p>
          <a:p>
            <a:pPr>
              <a:defRPr sz="1400">
                <a:latin typeface="Apple SD Gothic Neo"/>
              </a:defRPr>
            </a:pPr>
            <a:r>
              <a:t>차단 이유 SSOT = 규칙 ID, LLM은 부가 설명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6.4 미구현 모듈 — 계획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100">
                <a:latin typeface="Apple SD Gothic Neo"/>
              </a:defRPr>
            </a:pPr>
            <a:r>
              <a:t>A01: 경로·메서드 매트릭스, ID 열거 슬라이딩 윈도우</a:t>
            </a:r>
          </a:p>
          <a:p>
            <a:pPr>
              <a:defRPr sz="1100">
                <a:latin typeface="Apple SD Gothic Neo"/>
              </a:defRPr>
            </a:pPr>
            <a:r>
              <a:t>A02: 위험 경로(/actuator, .env …), 프록시 혼동 헤더</a:t>
            </a:r>
          </a:p>
          <a:p>
            <a:pPr>
              <a:defRPr sz="1100">
                <a:latin typeface="Apple SD Gothic Neo"/>
              </a:defRPr>
            </a:pPr>
            <a:r>
              <a:t>A03: package.json 등 lockfile 노출 경로</a:t>
            </a:r>
          </a:p>
          <a:p>
            <a:pPr>
              <a:defRPr sz="1100">
                <a:latin typeface="Apple SD Gothic Neo"/>
              </a:defRPr>
            </a:pPr>
            <a:r>
              <a:t>A04: URL 쿼리 비밀 파라미터명, 짧은 password 힌트(값 마스킹)</a:t>
            </a:r>
          </a:p>
          <a:p>
            <a:pPr>
              <a:defRPr sz="1100">
                <a:latin typeface="Apple SD Gothic Neo"/>
              </a:defRPr>
            </a:pPr>
            <a:r>
              <a:t>A07: 인증 엔드포인트 레이트, 세션 in URL</a:t>
            </a:r>
          </a:p>
          <a:p>
            <a:pPr>
              <a:defRPr sz="1100">
                <a:latin typeface="Apple SD Gothic Neo"/>
              </a:defRPr>
            </a:pPr>
            <a:r>
              <a:t>A08: 서명 파라미터 휴리스틱, 직렬화 시그니처</a:t>
            </a:r>
          </a:p>
          <a:p>
            <a:pPr>
              <a:defRPr sz="1100">
                <a:latin typeface="Apple SD Gothic Neo"/>
              </a:defRPr>
            </a:pPr>
            <a:r>
              <a:t>A09: 설정 자가진단·상관 ID 옵션·SQLite 집계 리포트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6.4 구현 순서 제안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Apple SD Gothic Neo"/>
              </a:defRPr>
            </a:pPr>
            <a:r>
              <a:t>1) A02  2) A07  3) A01  4) A04  5) A03  6) A08  7) A09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진행 상황 — OWASP 모듈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>
                <a:latin typeface="Apple SD Gothic Neo"/>
              </a:defRPr>
            </a:pPr>
            <a:r>
              <a:t>규칙 구현: A05 Injection, A10 Exceptional Conditions</a:t>
            </a:r>
          </a:p>
          <a:p>
            <a:pPr>
              <a:defRPr sz="1200">
                <a:latin typeface="Apple SD Gothic Neo"/>
              </a:defRPr>
            </a:pPr>
            <a:r>
              <a:t>코드 다수: A06 Insecure Design</a:t>
            </a:r>
          </a:p>
          <a:p>
            <a:pPr>
              <a:defRPr sz="1200">
                <a:latin typeface="Apple SD Gothic Neo"/>
              </a:defRPr>
            </a:pPr>
            <a:r>
              <a:t>미완성: A01~A04, A07~A09 (clean_result)</a:t>
            </a:r>
          </a:p>
          <a:p>
            <a:pPr>
              <a:defRPr sz="1200">
                <a:latin typeface="Apple SD Gothic Neo"/>
              </a:defRPr>
            </a:pPr>
            <a:r>
              <a:t>대시보드 implementation: a05·a10 = rules, 나머지 skeleton(미완성)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구현된 운영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Apple SD Gothic Neo"/>
              </a:defRPr>
            </a:pPr>
            <a:r>
              <a:t>리버스 프록시, URL rewrite, WAF on/off, 차단 심각도</a:t>
            </a:r>
          </a:p>
          <a:p>
            <a:pPr>
              <a:defRPr sz="1400">
                <a:latin typeface="Apple SD Gothic Neo"/>
              </a:defRPr>
            </a:pPr>
            <a:r>
              <a:t>차단 HTML/JSON, SQLite 로그, /__waf/dashboard</a:t>
            </a:r>
          </a:p>
          <a:p>
            <a:pPr>
              <a:defRPr sz="1400">
                <a:latin typeface="Apple SD Gothic Neo"/>
              </a:defRPr>
            </a:pPr>
            <a:r>
              <a:t>verification/ pytest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7.3 한계·후속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Apple SD Gothic Neo"/>
              </a:defRPr>
            </a:pPr>
            <a:r>
              <a:t>LLM: 설계 수준, 핵심 파이프라인 런타임 호출은 미포함</a:t>
            </a:r>
          </a:p>
          <a:p>
            <a:pPr>
              <a:defRPr sz="1400">
                <a:latin typeface="Apple SD Gothic Neo"/>
              </a:defRPr>
            </a:pPr>
            <a:r>
              <a:t>HTTPS 종단: 별도 프록시 또는 향후</a:t>
            </a:r>
          </a:p>
          <a:p>
            <a:pPr>
              <a:defRPr sz="1400">
                <a:latin typeface="Apple SD Gothic Neo"/>
              </a:defRPr>
            </a:pPr>
            <a:r>
              <a:t>A01~A04, A07~A09 규칙 채우기 — §6.4 참고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로드맵 — 모듈·AI·품질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>
                <a:latin typeface="Apple SD Gothic Neo"/>
              </a:defRPr>
            </a:pPr>
            <a:r>
              <a:t>모듈: A01·A07 우선, 문서와 시그니처 단계적 추가, A06 대시보드 정합</a:t>
            </a:r>
          </a:p>
          <a:p>
            <a:pPr>
              <a:defRPr sz="1200">
                <a:latin typeface="Apple SD Gothic Neo"/>
              </a:defRPr>
            </a:pPr>
            <a:r>
              <a:t>AI: Ollama PoC, 선택적 2차 판단, RAG( docs/ )</a:t>
            </a:r>
          </a:p>
          <a:p>
            <a:pPr>
              <a:defRPr sz="1200">
                <a:latin typeface="Apple SD Gothic Neo"/>
              </a:defRPr>
            </a:pPr>
            <a:r>
              <a:t>품질: 골든 페이로드, CI, 튜닝 가이드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한 줄 메시지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Apple SD Gothic Neo"/>
              </a:defRPr>
            </a:pPr>
            <a:r>
              <a:t>현재: OWASP 2025 구조로 점검·차단·기록·대시보드 동작, A05·A10 규칙 탐지</a:t>
            </a:r>
          </a:p>
          <a:p>
            <a:pPr>
              <a:defRPr sz="1400">
                <a:latin typeface="Apple SD Gothic Neo"/>
              </a:defRPr>
            </a:pPr>
            <a:r>
              <a:t>향후: 나머지 항목 보강 + 로컬 LLM 요약·보조로 완성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참고 경로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>
                <a:latin typeface="Apple SD Gothic Neo"/>
              </a:defRPr>
            </a:pPr>
            <a:r>
              <a:t>main.py, detector.py, request_snapshot.py</a:t>
            </a:r>
          </a:p>
          <a:p>
            <a:pPr>
              <a:defRPr sz="1300">
                <a:latin typeface="Apple SD Gothic Neo"/>
              </a:defRPr>
            </a:pPr>
            <a:r>
              <a:t>owasp/a01.py ~ a10.py</a:t>
            </a:r>
          </a:p>
          <a:p>
            <a:pPr>
              <a:defRPr sz="1300">
                <a:latin typeface="Apple SD Gothic Neo"/>
              </a:defRPr>
            </a:pPr>
            <a:r>
              <a:t>docker-compose.yml, docs/JUICE_SHOP_NETWORK_SETUP.md</a:t>
            </a:r>
          </a:p>
          <a:p>
            <a:pPr>
              <a:defRPr sz="1300">
                <a:latin typeface="Apple SD Gothic Neo"/>
              </a:defRPr>
            </a:pPr>
            <a:r>
              <a:t>docs/MIDTERM_PRESENTATION.md, PROJECT_REPORT_PPT_SOURCE.md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